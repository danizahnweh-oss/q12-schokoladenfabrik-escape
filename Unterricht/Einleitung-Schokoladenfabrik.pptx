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f02f668a7f4a3e" /><Relationship Type="http://schemas.openxmlformats.org/officeDocument/2006/relationships/extended-properties" Target="/docProps/app.xml" Id="Rc36e8d19e7c9407a" /><Relationship Type="http://schemas.openxmlformats.org/officeDocument/2006/relationships/officeDocument" Target="/ppt/presentation.xml" Id="Rfbbb963926034bb7" /></Relationships>
</file>

<file path=ppt/presentation.xml><?xml version="1.0" encoding="utf-8"?>
<p:presentation xmlns:p="http://schemas.openxmlformats.org/presentationml/2006/main">
  <p:sldMasterIdLst>
    <p:sldMasterId xmlns:r="http://schemas.openxmlformats.org/officeDocument/2006/relationships" id="2147483648" r:id="Rae8d9d4532e04ea0"/>
  </p:sldMasterIdLst>
  <p:notesMasterIdLst>
    <p:notesMasterId xmlns:r="http://schemas.openxmlformats.org/officeDocument/2006/relationships" r:id="Re2e86706d94b491e"/>
  </p:notesMasterIdLst>
  <p:sldIdLst>
    <p:sldId xmlns:r="http://schemas.openxmlformats.org/officeDocument/2006/relationships" id="256" r:id="R45c293083fb14d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af176bcd8a469f" /><Relationship Type="http://schemas.openxmlformats.org/officeDocument/2006/relationships/slideMaster" Target="/ppt/slideMasters/slideMaster1.xml" Id="Rae8d9d4532e04ea0" /><Relationship Type="http://schemas.openxmlformats.org/officeDocument/2006/relationships/notesMaster" Target="/ppt/notesMasters/notesMaster1.xml" Id="Re2e86706d94b491e" /><Relationship Type="http://schemas.openxmlformats.org/officeDocument/2006/relationships/presProps" Target="/ppt/presProps.xml" Id="Rf4dcf123cb9d47b1" /><Relationship Type="http://schemas.openxmlformats.org/officeDocument/2006/relationships/tableStyles" Target="/ppt/tableStyles.xml" Id="R2755ad0055b44be8" /><Relationship Type="http://schemas.openxmlformats.org/officeDocument/2006/relationships/slide" Target="/ppt/slides/slide1.xml" Id="R45c293083fb14d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57fb6da58448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39e882856344ad" /><Relationship Type="http://schemas.openxmlformats.org/officeDocument/2006/relationships/notesMaster" Target="/ppt/notesMasters/notesMaster1.xml" Id="R97a1d430f54247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Einstieg: Die Geschäftsleitung verspricht faire Pralinen, der Einkauf sucht den günstigsten Kakao und das Marketing verspricht schnelle Lieferungen. Frage: Wo können Schwierigkeiten entstehen? Kurzer Austausch zu zweit, danach Vermutungen sammeln. Akte, Glossar und Ermittlungsheft kurz zeigen. Ziel der ersten Stunde ist das Strategiebüro. Jede Person sichert eigene Ergebnisse auf ihrem Gerät. Abschlussfrage: Warum reichen gute Ziele einzelner Abteilungen noch nicht für eine gute Unternehmensstrategie?</a:t>
            </a:r>
          </a:p>
          <a:p xmlns:a="http://schemas.openxmlformats.org/drawingml/2006/main">
            <a:r>
              <a:t>Quelle: Eigene Lernwebsite https://daniel-zahnweh.de/Q12/Fabrik/ und der Unterrichtsplan aus diesem Chat. Das Fabrikmotiv ist eine vorhandene generierte Illustration aus dem Website-Projekt, keine Fotografie.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9ef51ceb8f4f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9c3df7cb7944b8" /><Relationship Type="http://schemas.openxmlformats.org/officeDocument/2006/relationships/slideLayout" Target="/ppt/slideLayouts/slideLayout1.xml" Id="R15d4fcb6f3fe4c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d4fcb6f3fe4c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8996391c0c4067" /><Relationship Type="http://schemas.openxmlformats.org/officeDocument/2006/relationships/image" Target="/ppt/media/image.png" Id="Rc9873a6f9a9c4871" /><Relationship Type="http://schemas.openxmlformats.org/officeDocument/2006/relationships/notesSlide" Target="/ppt/notesSlides/notesSlide1.xml" Id="R9779ceb69f4548fe" /></Relationships>
</file>

<file path=ppt/slides/slide1.xml><?xml version="1.0" encoding="utf-8"?>
<p:sld xmlns:p="http://schemas.openxmlformats.org/presentationml/2006/main">
  <p:cSld>
    <p:bg>
      <p:bgPr>
        <a:solidFill xmlns:a="http://schemas.openxmlformats.org/drawingml/2006/main">
          <a:srgbClr val="1618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7D75984-D153-48A4-80F2-0A3252BB09DE}"/>
              </a:ext>
            </a:extLst>
          </p:cNvPr>
          <p:cNvSpPr>
            <a:spLocks xmlns:a="http://schemas.openxmlformats.org/drawingml/2006/main" noGrp="1"/>
          </p:cNvSpPr>
          <p:nvPr/>
        </p:nvSpPr>
        <p:spPr>
          <a:xfrm xmlns:a="http://schemas.openxmlformats.org/drawingml/2006/main">
            <a:off x="609600" y="41910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F4F0E8"/>
                </a:solidFill>
                <a:latin typeface="Arial"/>
                <a:ea typeface="Arial"/>
                <a:cs typeface="Arial"/>
              </a:defRPr>
            </a:pPr>
            <a:r>
              <a:rPr sz="4200" b="1">
                <a:solidFill>
                  <a:srgbClr val="F4F0E8"/>
                </a:solidFill>
                <a:latin typeface="Arial"/>
                <a:ea typeface="Arial"/>
                <a:cs typeface="Arial"/>
              </a:rPr>
              <a:t>Die verschlossene</a:t>
            </a:r>
          </a:p>
          <a:p xmlns:a="http://schemas.openxmlformats.org/drawingml/2006/main">
            <a:pPr>
              <a:defRPr sz="4200" b="1">
                <a:solidFill>
                  <a:srgbClr val="F4F0E8"/>
                </a:solidFill>
                <a:latin typeface="Arial"/>
                <a:ea typeface="Arial"/>
                <a:cs typeface="Arial"/>
              </a:defRPr>
            </a:pPr>
            <a:r>
              <a:rPr sz="4200" b="1">
                <a:solidFill>
                  <a:srgbClr val="F4F0E8"/>
                </a:solidFill>
                <a:latin typeface="Arial"/>
                <a:ea typeface="Arial"/>
                <a:cs typeface="Arial"/>
              </a:rPr>
              <a:t>Schokoladenfabrik</a:t>
            </a:r>
          </a:p>
        </p:txBody>
      </p:sp>
      <p:sp>
        <p:nvSpPr>
          <p:cNvPr id="2" name="">
            <a:extLst xmlns:a="http://schemas.openxmlformats.org/drawingml/2006/main">
              <a:ext uri="{FF2B5EF4-FFF2-40B4-BE49-F238E27FC236}">
                <a16:creationId xmlns:a16="http://schemas.microsoft.com/office/drawing/2014/main" id="{BCD67B24-6874-4A4C-8C44-386E93076563}"/>
              </a:ext>
            </a:extLst>
          </p:cNvPr>
          <p:cNvSpPr>
            <a:spLocks xmlns:a="http://schemas.openxmlformats.org/drawingml/2006/main" noGrp="1"/>
          </p:cNvSpPr>
          <p:nvPr/>
        </p:nvSpPr>
        <p:spPr>
          <a:xfrm xmlns:a="http://schemas.openxmlformats.org/drawingml/2006/main">
            <a:off x="609600" y="18954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D6D9E0"/>
                </a:solidFill>
                <a:latin typeface="Arial"/>
                <a:ea typeface="Arial"/>
                <a:cs typeface="Arial"/>
              </a:defRPr>
            </a:pPr>
            <a:r>
              <a:rPr sz="1950" b="0">
                <a:solidFill>
                  <a:srgbClr val="D6D9E0"/>
                </a:solidFill>
                <a:latin typeface="Arial"/>
                <a:ea typeface="Arial"/>
                <a:cs typeface="Arial"/>
              </a:rPr>
              <a:t>Die Produktion steht still. Ihr untersucht die Ursachen und plant den Neustart.</a:t>
            </a:r>
          </a:p>
        </p:txBody>
      </p:sp>
      <p:sp>
        <p:nvSpPr>
          <p:cNvPr id="3" name="">
            <a:extLst xmlns:a="http://schemas.openxmlformats.org/drawingml/2006/main">
              <a:ext uri="{FF2B5EF4-FFF2-40B4-BE49-F238E27FC236}">
                <a16:creationId xmlns:a16="http://schemas.microsoft.com/office/drawing/2014/main" id="{9536CA3C-B9B7-40B2-97DF-B3BE5B6E3E30}"/>
              </a:ext>
            </a:extLst>
          </p:cNvPr>
          <p:cNvSpPr>
            <a:spLocks xmlns:a="http://schemas.openxmlformats.org/drawingml/2006/main" noGrp="1"/>
          </p:cNvSpPr>
          <p:nvPr/>
        </p:nvSpPr>
        <p:spPr>
          <a:xfrm xmlns:a="http://schemas.openxmlformats.org/drawingml/2006/main">
            <a:off x="609600" y="2638425"/>
            <a:ext cx="638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EFC891"/>
                </a:solidFill>
                <a:latin typeface="Arial"/>
                <a:ea typeface="Arial"/>
                <a:cs typeface="Arial"/>
              </a:defRPr>
            </a:pPr>
            <a:r>
              <a:rPr sz="2400" b="1">
                <a:solidFill>
                  <a:srgbClr val="EFC891"/>
                </a:solidFill>
                <a:latin typeface="Arial"/>
                <a:ea typeface="Arial"/>
                <a:cs typeface="Arial"/>
              </a:rPr>
              <a:t>Unser Plan heute</a:t>
            </a:r>
          </a:p>
        </p:txBody>
      </p:sp>
      <p:sp>
        <p:nvSpPr>
          <p:cNvPr id="4" name="">
            <a:extLst xmlns:a="http://schemas.openxmlformats.org/drawingml/2006/main">
              <a:ext uri="{FF2B5EF4-FFF2-40B4-BE49-F238E27FC236}">
                <a16:creationId xmlns:a16="http://schemas.microsoft.com/office/drawing/2014/main" id="{23F251D6-3C7F-42DF-91B6-ABA3DE86AAE7}"/>
              </a:ext>
            </a:extLst>
          </p:cNvPr>
          <p:cNvSpPr>
            <a:spLocks xmlns:a="http://schemas.openxmlformats.org/drawingml/2006/main" noGrp="1"/>
          </p:cNvSpPr>
          <p:nvPr/>
        </p:nvSpPr>
        <p:spPr>
          <a:xfrm xmlns:a="http://schemas.openxmlformats.org/drawingml/2006/main">
            <a:off x="609600" y="3257550"/>
            <a:ext cx="36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EFC891"/>
                </a:solidFill>
                <a:latin typeface="Arial"/>
                <a:ea typeface="Arial"/>
                <a:cs typeface="Arial"/>
              </a:defRPr>
            </a:pPr>
            <a:r>
              <a:rPr sz="2175" b="1">
                <a:solidFill>
                  <a:srgbClr val="EFC891"/>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E26F9D84-A020-40B6-AF1A-339689F22C78}"/>
              </a:ext>
            </a:extLst>
          </p:cNvPr>
          <p:cNvSpPr>
            <a:spLocks xmlns:a="http://schemas.openxmlformats.org/drawingml/2006/main" noGrp="1"/>
          </p:cNvSpPr>
          <p:nvPr/>
        </p:nvSpPr>
        <p:spPr>
          <a:xfrm xmlns:a="http://schemas.openxmlformats.org/drawingml/2006/main">
            <a:off x="1114425" y="325755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0E8"/>
                </a:solidFill>
                <a:latin typeface="Arial"/>
                <a:ea typeface="Arial"/>
                <a:cs typeface="Arial"/>
              </a:defRPr>
            </a:pPr>
            <a:r>
              <a:rPr sz="1950" b="0">
                <a:solidFill>
                  <a:srgbClr val="F4F0E8"/>
                </a:solidFill>
                <a:latin typeface="Arial"/>
                <a:ea typeface="Arial"/>
                <a:cs typeface="Arial"/>
              </a:rPr>
              <a:t>Vermutungen zum Stillstand sammeln</a:t>
            </a:r>
          </a:p>
        </p:txBody>
      </p:sp>
      <p:sp>
        <p:nvSpPr>
          <p:cNvPr id="6" name="">
            <a:extLst xmlns:a="http://schemas.openxmlformats.org/drawingml/2006/main">
              <a:ext uri="{FF2B5EF4-FFF2-40B4-BE49-F238E27FC236}">
                <a16:creationId xmlns:a16="http://schemas.microsoft.com/office/drawing/2014/main" id="{EDD595E2-30F1-475B-867F-312C07E8D61C}"/>
              </a:ext>
            </a:extLst>
          </p:cNvPr>
          <p:cNvSpPr>
            <a:spLocks xmlns:a="http://schemas.openxmlformats.org/drawingml/2006/main" noGrp="1"/>
          </p:cNvSpPr>
          <p:nvPr/>
        </p:nvSpPr>
        <p:spPr>
          <a:xfrm xmlns:a="http://schemas.openxmlformats.org/drawingml/2006/main">
            <a:off x="609600" y="3810000"/>
            <a:ext cx="36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EFC891"/>
                </a:solidFill>
                <a:latin typeface="Arial"/>
                <a:ea typeface="Arial"/>
                <a:cs typeface="Arial"/>
              </a:defRPr>
            </a:pPr>
            <a:r>
              <a:rPr sz="2175" b="1">
                <a:solidFill>
                  <a:srgbClr val="EFC891"/>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0E96E14B-BF35-4313-99A5-39DE5E80B9B1}"/>
              </a:ext>
            </a:extLst>
          </p:cNvPr>
          <p:cNvSpPr>
            <a:spLocks xmlns:a="http://schemas.openxmlformats.org/drawingml/2006/main" noGrp="1"/>
          </p:cNvSpPr>
          <p:nvPr/>
        </p:nvSpPr>
        <p:spPr>
          <a:xfrm xmlns:a="http://schemas.openxmlformats.org/drawingml/2006/main">
            <a:off x="1114425" y="381000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0E8"/>
                </a:solidFill>
                <a:latin typeface="Arial"/>
                <a:ea typeface="Arial"/>
                <a:cs typeface="Arial"/>
              </a:defRPr>
            </a:pPr>
            <a:r>
              <a:rPr sz="1950" b="0">
                <a:solidFill>
                  <a:srgbClr val="F4F0E8"/>
                </a:solidFill>
                <a:latin typeface="Arial"/>
                <a:ea typeface="Arial"/>
                <a:cs typeface="Arial"/>
              </a:rPr>
              <a:t>Die Akte im Strategiebüro untersuchen</a:t>
            </a:r>
          </a:p>
        </p:txBody>
      </p:sp>
      <p:sp>
        <p:nvSpPr>
          <p:cNvPr id="8" name="">
            <a:extLst xmlns:a="http://schemas.openxmlformats.org/drawingml/2006/main">
              <a:ext uri="{FF2B5EF4-FFF2-40B4-BE49-F238E27FC236}">
                <a16:creationId xmlns:a16="http://schemas.microsoft.com/office/drawing/2014/main" id="{7E3D8981-D161-4697-BF6F-538C2ACB383B}"/>
              </a:ext>
            </a:extLst>
          </p:cNvPr>
          <p:cNvSpPr>
            <a:spLocks xmlns:a="http://schemas.openxmlformats.org/drawingml/2006/main" noGrp="1"/>
          </p:cNvSpPr>
          <p:nvPr/>
        </p:nvSpPr>
        <p:spPr>
          <a:xfrm xmlns:a="http://schemas.openxmlformats.org/drawingml/2006/main">
            <a:off x="609600" y="4362450"/>
            <a:ext cx="36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EFC891"/>
                </a:solidFill>
                <a:latin typeface="Arial"/>
                <a:ea typeface="Arial"/>
                <a:cs typeface="Arial"/>
              </a:defRPr>
            </a:pPr>
            <a:r>
              <a:rPr sz="2175" b="1">
                <a:solidFill>
                  <a:srgbClr val="EFC891"/>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E3966E7F-E0A9-4541-B64B-49DFEED46F70}"/>
              </a:ext>
            </a:extLst>
          </p:cNvPr>
          <p:cNvSpPr>
            <a:spLocks xmlns:a="http://schemas.openxmlformats.org/drawingml/2006/main" noGrp="1"/>
          </p:cNvSpPr>
          <p:nvPr/>
        </p:nvSpPr>
        <p:spPr>
          <a:xfrm xmlns:a="http://schemas.openxmlformats.org/drawingml/2006/main">
            <a:off x="1114425" y="436245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0E8"/>
                </a:solidFill>
                <a:latin typeface="Arial"/>
                <a:ea typeface="Arial"/>
                <a:cs typeface="Arial"/>
              </a:defRPr>
            </a:pPr>
            <a:r>
              <a:rPr sz="1950" b="0">
                <a:solidFill>
                  <a:srgbClr val="F4F0E8"/>
                </a:solidFill>
                <a:latin typeface="Arial"/>
                <a:ea typeface="Arial"/>
                <a:cs typeface="Arial"/>
              </a:rPr>
              <a:t>Ergebnisse sichern und den Türcode ermitteln</a:t>
            </a:r>
          </a:p>
        </p:txBody>
      </p:sp>
      <p:sp>
        <p:nvSpPr>
          <p:cNvPr id="10" name="">
            <a:extLst xmlns:a="http://schemas.openxmlformats.org/drawingml/2006/main">
              <a:ext uri="{FF2B5EF4-FFF2-40B4-BE49-F238E27FC236}">
                <a16:creationId xmlns:a16="http://schemas.microsoft.com/office/drawing/2014/main" id="{2009F468-D42F-454C-B354-5119733E5E65}"/>
              </a:ext>
            </a:extLst>
          </p:cNvPr>
          <p:cNvSpPr>
            <a:spLocks xmlns:a="http://schemas.openxmlformats.org/drawingml/2006/main" noGrp="1"/>
          </p:cNvSpPr>
          <p:nvPr/>
        </p:nvSpPr>
        <p:spPr>
          <a:xfrm xmlns:a="http://schemas.openxmlformats.org/drawingml/2006/main">
            <a:off x="609600" y="4914900"/>
            <a:ext cx="36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EFC891"/>
                </a:solidFill>
                <a:latin typeface="Arial"/>
                <a:ea typeface="Arial"/>
                <a:cs typeface="Arial"/>
              </a:defRPr>
            </a:pPr>
            <a:r>
              <a:rPr sz="2175" b="1">
                <a:solidFill>
                  <a:srgbClr val="EFC891"/>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334D1261-81F2-459F-B40A-5F731734AD70}"/>
              </a:ext>
            </a:extLst>
          </p:cNvPr>
          <p:cNvSpPr>
            <a:spLocks xmlns:a="http://schemas.openxmlformats.org/drawingml/2006/main" noGrp="1"/>
          </p:cNvSpPr>
          <p:nvPr/>
        </p:nvSpPr>
        <p:spPr>
          <a:xfrm xmlns:a="http://schemas.openxmlformats.org/drawingml/2006/main">
            <a:off x="1114425" y="491490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0E8"/>
                </a:solidFill>
                <a:latin typeface="Arial"/>
                <a:ea typeface="Arial"/>
                <a:cs typeface="Arial"/>
              </a:defRPr>
            </a:pPr>
            <a:r>
              <a:rPr sz="1950" b="0">
                <a:solidFill>
                  <a:srgbClr val="F4F0E8"/>
                </a:solidFill>
                <a:latin typeface="Arial"/>
                <a:ea typeface="Arial"/>
                <a:cs typeface="Arial"/>
              </a:rPr>
              <a:t>Zielkonflikte und Lösungen besprechen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9873a6f9a9c4871"/>
          <a:stretch xmlns:a="http://schemas.openxmlformats.org/drawingml/2006/main"/>
        </p:blipFill>
        <p:spPr>
          <a:xfrm xmlns:a="http://schemas.openxmlformats.org/drawingml/2006/main">
            <a:off x="8001000" y="2908300"/>
            <a:ext cx="3619500" cy="2413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35856DA-3B54-4CE0-B86C-195A7895A236}"/>
              </a:ext>
            </a:extLst>
          </p:cNvPr>
          <p:cNvSpPr>
            <a:spLocks xmlns:a="http://schemas.openxmlformats.org/drawingml/2006/main" noGrp="1"/>
          </p:cNvSpPr>
          <p:nvPr/>
        </p:nvSpPr>
        <p:spPr>
          <a:xfrm xmlns:a="http://schemas.openxmlformats.org/drawingml/2006/main">
            <a:off x="609600" y="59245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D6D9E0"/>
                </a:solidFill>
                <a:latin typeface="Arial"/>
                <a:ea typeface="Arial"/>
                <a:cs typeface="Arial"/>
              </a:defRPr>
            </a:pPr>
            <a:r>
              <a:rPr sz="1800" b="0">
                <a:solidFill>
                  <a:srgbClr val="D6D9E0"/>
                </a:solidFill>
                <a:latin typeface="Arial"/>
                <a:ea typeface="Arial"/>
                <a:cs typeface="Arial"/>
              </a:rPr>
              <a:t>Teams: 2–3 Personen  ·  Jede Person führt ihr eigenes Ermittlungsheft</a:t>
            </a:r>
          </a:p>
        </p:txBody>
      </p:sp>
      <p:sp>
        <p:nvSpPr>
          <p:cNvPr id="14" name="">
            <a:extLst xmlns:a="http://schemas.openxmlformats.org/drawingml/2006/main">
              <a:ext uri="{FF2B5EF4-FFF2-40B4-BE49-F238E27FC236}">
                <a16:creationId xmlns:a16="http://schemas.microsoft.com/office/drawing/2014/main" id="{EBF411EE-3EB4-4397-ABE1-4EF27C6035E0}"/>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EFC891"/>
                </a:solidFill>
                <a:latin typeface="Arial"/>
                <a:ea typeface="Arial"/>
                <a:cs typeface="Arial"/>
              </a:defRPr>
            </a:pPr>
            <a:r>
              <a:rPr sz="1725" b="0">
                <a:solidFill>
                  <a:srgbClr val="EFC891"/>
                </a:solidFill>
                <a:latin typeface="Arial"/>
                <a:ea typeface="Arial"/>
                <a:cs typeface="Arial"/>
              </a:rPr>
              <a:t>Alle Informationen: daniel-zahnweh.de/Q12/Fabrik</a:t>
            </a:r>
          </a:p>
        </p:txBody>
      </p:sp>
    </p:spTree>
    <p:extLst>
      <p:ext uri="{BB962C8B-B14F-4D97-AF65-F5344CB8AC3E}">
        <p14:creationId xmlns:p14="http://schemas.microsoft.com/office/powerpoint/2010/main" val="911698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2026-10-12T05:54:19.7670000Z</dcterms:created>
  <dcterms:modified xsi:type="dcterms:W3CDTF">2026-10-12T05:54:19.7670000Z</dcterms:modified>
</coreProperties>
</file>